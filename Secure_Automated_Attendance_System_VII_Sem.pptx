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313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A855F7"/>
                </a:solidFill>
              </a:defRPr>
            </a:pPr>
            <a:r>
              <a:t>VII SEMESTER MAJOR PROJECT  •  MID-SEMESTER REVIEW</a:t>
            </a:r>
          </a:p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</a:defRPr>
            </a:pPr>
            <a:r>
              <a:t>Secure Automated Attendance System</a:t>
            </a:r>
          </a:p>
          <a:p>
            <a:pPr>
              <a:spcAft>
                <a:spcPts val="2800"/>
              </a:spcAft>
              <a:defRPr sz="1800">
                <a:solidFill>
                  <a:srgbClr val="38BDF8"/>
                </a:solidFill>
              </a:defRPr>
            </a:pPr>
            <a:r>
              <a:t>Eliminating Proxies through BLE Proximity, Dynamic QR &amp; Face Authentication</a:t>
            </a:r>
          </a:p>
          <a:p>
            <a:pPr>
              <a:spcAft>
                <a:spcPts val="3600"/>
              </a:spcAft>
              <a:defRPr sz="1300">
                <a:solidFill>
                  <a:srgbClr val="94A3B8"/>
                </a:solidFill>
              </a:defRPr>
            </a:pPr>
            <a:r>
              <a:t>Strategic Evolution from VI Semester Web Prototype to an Enterprise Multi-Factor Platform</a:t>
            </a:r>
          </a:p>
          <a:p>
            <a:pPr>
              <a:spcAft>
                <a:spcPts val="400"/>
              </a:spcAft>
              <a:defRPr sz="1150" b="1">
                <a:solidFill>
                  <a:srgbClr val="94A3B8"/>
                </a:solidFill>
              </a:defRPr>
            </a:pPr>
            <a:r>
              <a:t>Department of Computer Science &amp; Engineering  •  Academic Year 2026–2027</a:t>
            </a:r>
          </a:p>
          <a:p>
            <a:pPr>
              <a:defRPr sz="1100">
                <a:solidFill>
                  <a:srgbClr val="34D399"/>
                </a:solidFill>
              </a:defRPr>
            </a:pPr>
            <a:r>
              <a:t>Team: Radesh Annam | Nithin Sagili | Pranilash Reddy | Ranadeep Yeggoni | Tanishq Kancharla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8B5CF6"/>
                </a:solidFill>
                <a:latin typeface="Segoe UI"/>
              </a:defRPr>
            </a:pPr>
            <a:r>
              <a:t>VI SEM FOUNDATION (1 OF 3)</a:t>
            </a:r>
          </a:p>
          <a:p>
            <a:pPr>
              <a:spcAft>
                <a:spcPts val="400"/>
              </a:spcAft>
              <a:defRPr sz="2500" b="1">
                <a:solidFill>
                  <a:srgbClr val="F8FAFC"/>
                </a:solidFill>
                <a:latin typeface="Segoe UI"/>
              </a:defRPr>
            </a:pPr>
            <a:r>
              <a:t>Why Traditional Attendance Systems Fail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Real-world systemic flaws observed in manual paper sheets and static digital checkpoints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99055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0418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F43F5E"/>
                </a:solidFill>
              </a:defRPr>
            </a:pPr>
            <a:r>
              <a:t>01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Proxy Manipulation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Roll calls and manual signatures easily forged by peers.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Static QR codes photographed and shared to absent students via chat.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Result: 15–20% inflated proxy attendance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3805" y="1737360"/>
            <a:ext cx="2499055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2405" y="2011680"/>
            <a:ext cx="20418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FBBF24"/>
                </a:solidFill>
              </a:defRPr>
            </a:pPr>
            <a:r>
              <a:t>02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Instructional Time Loss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Calling roll for 60+ students consumes 10–12 minutes per hour.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Up to 20% of instructional classroom time wasted daily.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Disrupts lecture focus and student engagement.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6090" y="1737360"/>
            <a:ext cx="2499055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4690" y="2011680"/>
            <a:ext cx="20418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8B5CF6"/>
                </a:solidFill>
              </a:defRPr>
            </a:pPr>
            <a:r>
              <a:t>03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Zero Presence Check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Biometric wall scanners cause hallway bottlenecks.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Zero continuous verification of who stays in the lecture.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Cannot enforce actual presence inside the classroom.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58375" y="1737360"/>
            <a:ext cx="2499055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6975" y="2011680"/>
            <a:ext cx="20418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38BDF8"/>
                </a:solidFill>
              </a:defRPr>
            </a:pPr>
            <a:r>
              <a:t>04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Administrative Burden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Manual data entry into university portals is error-prone.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Lagged attendance visibility for mentors and parents.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• Debarment status discovered only after cutoff 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8B5CF6"/>
                </a:solidFill>
                <a:latin typeface="Segoe UI"/>
              </a:defRPr>
            </a:pPr>
            <a:r>
              <a:t>VI SEM FOUNDATION (2 OF 3)</a:t>
            </a:r>
          </a:p>
          <a:p>
            <a:pPr>
              <a:spcAft>
                <a:spcPts val="400"/>
              </a:spcAft>
              <a:defRPr sz="2500" b="1">
                <a:solidFill>
                  <a:srgbClr val="F8FAFC"/>
                </a:solidFill>
                <a:latin typeface="Segoe UI"/>
              </a:defRPr>
            </a:pPr>
            <a:r>
              <a:t>Our Solution: Four Foundational Pillars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The core MERN architecture established in VI Semester providing dual-factor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99055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20418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8B5CF6"/>
                </a:solidFill>
              </a:defRPr>
            </a:pPr>
            <a:r>
              <a:t>PILLAR 1</a:t>
            </a:r>
          </a:p>
          <a:p>
            <a:pPr>
              <a:spcAft>
                <a:spcPts val="1600"/>
              </a:spcAft>
              <a:defRPr sz="1500" b="1">
                <a:solidFill>
                  <a:srgbClr val="F8FAFC"/>
                </a:solidFill>
              </a:defRPr>
            </a:pPr>
            <a:r>
              <a:t>Dynamic Rotating QR</a:t>
            </a:r>
          </a:p>
          <a:p>
            <a:pPr>
              <a:spcAft>
                <a:spcPts val="1000"/>
              </a:spcAft>
              <a:defRPr b="1" sz="1100">
                <a:solidFill>
                  <a:srgbClr val="E2E8F0"/>
                </a:solidFill>
              </a:defRPr>
            </a:pPr>
            <a:r>
              <a:t>HMAC-SHA256 Token: </a:t>
            </a:r>
            <a:r>
              <a:rPr b="0">
                <a:solidFill>
                  <a:srgbClr val="94A3B8"/>
                </a:solidFill>
              </a:rPr>
              <a:t>Cryptographically signed QR generated on faculty screen.</a:t>
            </a:r>
          </a:p>
          <a:p>
            <a:pPr>
              <a:spcAft>
                <a:spcPts val="1000"/>
              </a:spcAft>
              <a:defRPr b="1" sz="1100">
                <a:solidFill>
                  <a:srgbClr val="E2E8F0"/>
                </a:solidFill>
              </a:defRPr>
            </a:pPr>
            <a:r>
              <a:t>14s Auto-Rotation: </a:t>
            </a:r>
            <a:r>
              <a:rPr b="0">
                <a:solidFill>
                  <a:srgbClr val="94A3B8"/>
                </a:solidFill>
              </a:rPr>
              <a:t>Payload expires rapidly; rejects old screenshots.</a:t>
            </a:r>
          </a:p>
          <a:p>
            <a:pPr>
              <a:spcAft>
                <a:spcPts val="1000"/>
              </a:spcAft>
              <a:defRPr b="1" sz="1100">
                <a:solidFill>
                  <a:srgbClr val="E2E8F0"/>
                </a:solidFill>
              </a:defRPr>
            </a:pPr>
            <a:r>
              <a:t>30s Server Tolerance: </a:t>
            </a:r>
            <a:r>
              <a:rPr b="0">
                <a:solidFill>
                  <a:srgbClr val="94A3B8"/>
                </a:solidFill>
              </a:rPr>
              <a:t>Strict clock skew window prevents replay.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3805" y="1737360"/>
            <a:ext cx="2499055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2405" y="1965960"/>
            <a:ext cx="20418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t>PILLAR 2</a:t>
            </a:r>
          </a:p>
          <a:p>
            <a:pPr>
              <a:spcAft>
                <a:spcPts val="1600"/>
              </a:spcAft>
              <a:defRPr sz="1500" b="1">
                <a:solidFill>
                  <a:srgbClr val="F8FAFC"/>
                </a:solidFill>
              </a:defRPr>
            </a:pPr>
            <a:r>
              <a:t>Face Authentication</a:t>
            </a:r>
          </a:p>
          <a:p>
            <a:pPr>
              <a:spcAft>
                <a:spcPts val="1000"/>
              </a:spcAft>
              <a:defRPr b="1" sz="1100">
                <a:solidFill>
                  <a:srgbClr val="E2E8F0"/>
                </a:solidFill>
              </a:defRPr>
            </a:pPr>
            <a:r>
              <a:t>128D Facial Vectors: </a:t>
            </a:r>
            <a:r>
              <a:rPr b="0">
                <a:solidFill>
                  <a:srgbClr val="94A3B8"/>
                </a:solidFill>
              </a:rPr>
              <a:t>Extracted via client-side @vladmandic/face-api.</a:t>
            </a:r>
          </a:p>
          <a:p>
            <a:pPr>
              <a:spcAft>
                <a:spcPts val="1000"/>
              </a:spcAft>
              <a:defRPr b="1" sz="1100">
                <a:solidFill>
                  <a:srgbClr val="E2E8F0"/>
                </a:solidFill>
              </a:defRPr>
            </a:pPr>
            <a:r>
              <a:t>Cosine &amp; Euclidean Match: </a:t>
            </a:r>
            <a:r>
              <a:rPr b="0">
                <a:solidFill>
                  <a:srgbClr val="94A3B8"/>
                </a:solidFill>
              </a:rPr>
              <a:t>Distance threshold &lt;= 0.6 validates enrolled face.</a:t>
            </a:r>
          </a:p>
          <a:p>
            <a:pPr>
              <a:spcAft>
                <a:spcPts val="1000"/>
              </a:spcAft>
              <a:defRPr b="1" sz="1100">
                <a:solidFill>
                  <a:srgbClr val="E2E8F0"/>
                </a:solidFill>
              </a:defRPr>
            </a:pPr>
            <a:r>
              <a:t>WebRTC Video Streaming: </a:t>
            </a:r>
            <a:r>
              <a:rPr b="0">
                <a:solidFill>
                  <a:srgbClr val="94A3B8"/>
                </a:solidFill>
              </a:rPr>
              <a:t>Camera stream processed entirely in-browser.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6090" y="1737360"/>
            <a:ext cx="2499055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4690" y="1965960"/>
            <a:ext cx="20418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PILLAR 3</a:t>
            </a:r>
          </a:p>
          <a:p>
            <a:pPr>
              <a:spcAft>
                <a:spcPts val="1600"/>
              </a:spcAft>
              <a:defRPr sz="1500" b="1">
                <a:solidFill>
                  <a:srgbClr val="F8FAFC"/>
                </a:solidFill>
              </a:defRPr>
            </a:pPr>
            <a:r>
              <a:t>Role-Based Control</a:t>
            </a:r>
          </a:p>
          <a:p>
            <a:pPr>
              <a:spcAft>
                <a:spcPts val="1000"/>
              </a:spcAft>
              <a:defRPr b="1" sz="1100">
                <a:solidFill>
                  <a:srgbClr val="E2E8F0"/>
                </a:solidFill>
              </a:defRPr>
            </a:pPr>
            <a:r>
              <a:t>Admin Dashboard: </a:t>
            </a:r>
            <a:r>
              <a:rPr b="0">
                <a:solidFill>
                  <a:srgbClr val="94A3B8"/>
                </a:solidFill>
              </a:rPr>
              <a:t>Global department, faculty, and student management.</a:t>
            </a:r>
          </a:p>
          <a:p>
            <a:pPr>
              <a:spcAft>
                <a:spcPts val="1000"/>
              </a:spcAft>
              <a:defRPr b="1" sz="1100">
                <a:solidFill>
                  <a:srgbClr val="E2E8F0"/>
                </a:solidFill>
              </a:defRPr>
            </a:pPr>
            <a:r>
              <a:t>Faculty Session Console: </a:t>
            </a:r>
            <a:r>
              <a:rPr b="0">
                <a:solidFill>
                  <a:srgbClr val="94A3B8"/>
                </a:solidFill>
              </a:rPr>
              <a:t>One-click session activation and live attendance poll.</a:t>
            </a:r>
          </a:p>
          <a:p>
            <a:pPr>
              <a:spcAft>
                <a:spcPts val="1000"/>
              </a:spcAft>
              <a:defRPr b="1" sz="1100">
                <a:solidFill>
                  <a:srgbClr val="E2E8F0"/>
                </a:solidFill>
              </a:defRPr>
            </a:pPr>
            <a:r>
              <a:t>Student Portal: </a:t>
            </a:r>
            <a:r>
              <a:rPr b="0">
                <a:solidFill>
                  <a:srgbClr val="94A3B8"/>
                </a:solidFill>
              </a:rPr>
              <a:t>Face registration, QR scanner, and history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58375" y="1737360"/>
            <a:ext cx="2499055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6975" y="1965960"/>
            <a:ext cx="20418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BBF24"/>
                </a:solidFill>
              </a:defRPr>
            </a:pPr>
            <a:r>
              <a:t>PILLAR 4</a:t>
            </a:r>
          </a:p>
          <a:p>
            <a:pPr>
              <a:spcAft>
                <a:spcPts val="1600"/>
              </a:spcAft>
              <a:defRPr sz="1500" b="1">
                <a:solidFill>
                  <a:srgbClr val="F8FAFC"/>
                </a:solidFill>
              </a:defRPr>
            </a:pPr>
            <a:r>
              <a:t>Automated Records</a:t>
            </a:r>
          </a:p>
          <a:p>
            <a:pPr>
              <a:spcAft>
                <a:spcPts val="1000"/>
              </a:spcAft>
              <a:defRPr b="1" sz="1100">
                <a:solidFill>
                  <a:srgbClr val="E2E8F0"/>
                </a:solidFill>
              </a:defRPr>
            </a:pPr>
            <a:r>
              <a:t>Instant Sync: </a:t>
            </a:r>
            <a:r>
              <a:rPr b="0">
                <a:solidFill>
                  <a:srgbClr val="94A3B8"/>
                </a:solidFill>
              </a:rPr>
              <a:t>Attendance records committed atomically to MongoDB.</a:t>
            </a:r>
          </a:p>
          <a:p>
            <a:pPr>
              <a:spcAft>
                <a:spcPts val="1000"/>
              </a:spcAft>
              <a:defRPr b="1" sz="1100">
                <a:solidFill>
                  <a:srgbClr val="E2E8F0"/>
                </a:solidFill>
              </a:defRPr>
            </a:pPr>
            <a:r>
              <a:t>One-Click CSV Export: </a:t>
            </a:r>
            <a:r>
              <a:rPr b="0">
                <a:solidFill>
                  <a:srgbClr val="94A3B8"/>
                </a:solidFill>
              </a:rPr>
              <a:t>Direct spreadsheet generation for university audits.</a:t>
            </a:r>
          </a:p>
          <a:p>
            <a:pPr>
              <a:spcAft>
                <a:spcPts val="1000"/>
              </a:spcAft>
              <a:defRPr b="1" sz="1100">
                <a:solidFill>
                  <a:srgbClr val="E2E8F0"/>
                </a:solidFill>
              </a:defRPr>
            </a:pPr>
            <a:r>
              <a:t>Zero Manual Log Entry: </a:t>
            </a:r>
            <a:r>
              <a:rPr b="0">
                <a:solidFill>
                  <a:srgbClr val="94A3B8"/>
                </a:solidFill>
              </a:rPr>
              <a:t>Completely eliminates manual paper registers.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8B5CF6"/>
                </a:solidFill>
                <a:latin typeface="Segoe UI"/>
              </a:defRPr>
            </a:pPr>
            <a:r>
              <a:t>VI SEM FOUNDATION (3 OF 3)</a:t>
            </a:r>
          </a:p>
          <a:p>
            <a:pPr>
              <a:spcAft>
                <a:spcPts val="400"/>
              </a:spcAft>
              <a:defRPr sz="2500" b="1">
                <a:solidFill>
                  <a:srgbClr val="F8FAFC"/>
                </a:solidFill>
                <a:latin typeface="Segoe UI"/>
              </a:defRPr>
            </a:pPr>
            <a:r>
              <a:t>Prototype Validation &amp; Residual Gaps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Evaluating VI Sem test success against residual vulnerabilities requiring VII Sem upgrades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8099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63235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4D399"/>
                </a:solidFill>
              </a:defRPr>
            </a:pPr>
            <a:r>
              <a:t>PROVEN PROTOTYPE CAPABILITIES (TABLE 4.1)</a:t>
            </a:r>
          </a:p>
          <a:p>
            <a:pPr>
              <a:spcAft>
                <a:spcPts val="1200"/>
              </a:spcAft>
              <a:defRPr b="1" sz="1150">
                <a:solidFill>
                  <a:srgbClr val="F8FAFC"/>
                </a:solidFill>
              </a:defRPr>
            </a:pPr>
            <a:r>
              <a:t>✔  Tamper-Proof QR Signing: </a:t>
            </a:r>
            <a:r>
              <a:rPr b="0">
                <a:solidFill>
                  <a:srgbClr val="94A3B8"/>
                </a:solidFill>
              </a:rPr>
              <a:t>Forged signatures &amp; altered session IDs rejected (100% rejection rate).</a:t>
            </a:r>
          </a:p>
          <a:p>
            <a:pPr>
              <a:spcAft>
                <a:spcPts val="1200"/>
              </a:spcAft>
              <a:defRPr b="1" sz="1150">
                <a:solidFill>
                  <a:srgbClr val="F8FAFC"/>
                </a:solidFill>
              </a:defRPr>
            </a:pPr>
            <a:r>
              <a:t>✔  Biometric Discrimination: </a:t>
            </a:r>
            <a:r>
              <a:rPr b="0">
                <a:solidFill>
                  <a:srgbClr val="94A3B8"/>
                </a:solidFill>
              </a:rPr>
              <a:t>Unregistered or mismatched faces rejected with Euclidean distance &gt; 0.6.</a:t>
            </a:r>
          </a:p>
          <a:p>
            <a:pPr>
              <a:spcAft>
                <a:spcPts val="1200"/>
              </a:spcAft>
              <a:defRPr b="1" sz="1150">
                <a:solidFill>
                  <a:srgbClr val="F8FAFC"/>
                </a:solidFill>
              </a:defRPr>
            </a:pPr>
            <a:r>
              <a:t>✔  Concurrency Idempotency: </a:t>
            </a:r>
            <a:r>
              <a:rPr b="0">
                <a:solidFill>
                  <a:srgbClr val="94A3B8"/>
                </a:solidFill>
              </a:rPr>
              <a:t>Atomic challenge nonces &amp; compound indexes guarantee zero double-marking.</a:t>
            </a:r>
          </a:p>
          <a:p>
            <a:pPr>
              <a:spcAft>
                <a:spcPts val="1200"/>
              </a:spcAft>
              <a:defRPr b="1" sz="1150">
                <a:solidFill>
                  <a:srgbClr val="F8FAFC"/>
                </a:solidFill>
              </a:defRPr>
            </a:pPr>
            <a:r>
              <a:t>✔  Fast CSV Export: </a:t>
            </a:r>
            <a:r>
              <a:rPr b="0">
                <a:solidFill>
                  <a:srgbClr val="94A3B8"/>
                </a:solidFill>
              </a:rPr>
              <a:t>Attendance reports generated instantly, saving 80% administrative processing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737360"/>
            <a:ext cx="518099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2590" y="2011680"/>
            <a:ext cx="463235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43F5E"/>
                </a:solidFill>
              </a:defRPr>
            </a:pPr>
            <a:r>
              <a:t>THE 4 RESIDUAL GAPS DRIVING VII SEMESTER</a:t>
            </a:r>
          </a:p>
          <a:p>
            <a:pPr>
              <a:spcAft>
                <a:spcPts val="1200"/>
              </a:spcAft>
              <a:defRPr b="1" sz="1150">
                <a:solidFill>
                  <a:srgbClr val="F8FAFC"/>
                </a:solidFill>
              </a:defRPr>
            </a:pPr>
            <a:r>
              <a:t>✘  Remote Screen-Share Proxy: </a:t>
            </a:r>
            <a:r>
              <a:rPr b="0">
                <a:solidFill>
                  <a:srgbClr val="94A3B8"/>
                </a:solidFill>
              </a:rPr>
              <a:t>A student in class can live-stream the QR to an absent friend, who scans and authenticates from their room.</a:t>
            </a:r>
          </a:p>
          <a:p>
            <a:pPr>
              <a:spcAft>
                <a:spcPts val="1200"/>
              </a:spcAft>
              <a:defRPr b="1" sz="1150">
                <a:solidFill>
                  <a:srgbClr val="F8FAFC"/>
                </a:solidFill>
              </a:defRPr>
            </a:pPr>
            <a:r>
              <a:t>✘  Client-Trusted Liveness: </a:t>
            </a:r>
            <a:r>
              <a:rPr b="0">
                <a:solidFill>
                  <a:srgbClr val="94A3B8"/>
                </a:solidFill>
              </a:rPr>
              <a:t>Backend blindly trusted livenessPassed: true from client, vulnerable to script injection.</a:t>
            </a:r>
          </a:p>
          <a:p>
            <a:pPr>
              <a:spcAft>
                <a:spcPts val="1200"/>
              </a:spcAft>
              <a:defRPr b="1" sz="1150">
                <a:solidFill>
                  <a:srgbClr val="F8FAFC"/>
                </a:solidFill>
              </a:defRPr>
            </a:pPr>
            <a:r>
              <a:t>✘  Browser Overhead &amp; Latency: </a:t>
            </a:r>
            <a:r>
              <a:rPr b="0">
                <a:solidFill>
                  <a:srgbClr val="94A3B8"/>
                </a:solidFill>
              </a:rPr>
              <a:t>Standard mobile browsers suffer address bar clipping and slow 6MB neural net weight downloads.</a:t>
            </a:r>
          </a:p>
          <a:p>
            <a:pPr>
              <a:spcAft>
                <a:spcPts val="1200"/>
              </a:spcAft>
              <a:defRPr b="1" sz="1150">
                <a:solidFill>
                  <a:srgbClr val="F8FAFC"/>
                </a:solidFill>
              </a:defRPr>
            </a:pPr>
            <a:r>
              <a:t>✘  Reactive Attendance: </a:t>
            </a:r>
            <a:r>
              <a:rPr b="0">
                <a:solidFill>
                  <a:srgbClr val="94A3B8"/>
                </a:solidFill>
              </a:rPr>
              <a:t>Students discover debarment status (&lt;75%) only after cutoff when it is irreversible.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8B5CF6"/>
                </a:solidFill>
                <a:latin typeface="Segoe UI"/>
              </a:defRPr>
            </a:pPr>
            <a:r>
              <a:t>VII SEM PROPOSED UPGRADE (1 OF 5)</a:t>
            </a:r>
          </a:p>
          <a:p>
            <a:pPr>
              <a:spcAft>
                <a:spcPts val="400"/>
              </a:spcAft>
              <a:defRPr sz="2500" b="1">
                <a:solidFill>
                  <a:srgbClr val="F8FAFC"/>
                </a:solidFill>
                <a:latin typeface="Segoe UI"/>
              </a:defRPr>
            </a:pPr>
            <a:r>
              <a:t>Upgrade 01: Progressive Web App (PWA) Engine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Zero-install native standalone mobile deployment with offline neural network weight caching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8099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6_Picture 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20" y="19659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A855F7"/>
                </a:solidFill>
              </a:defRPr>
            </a:pPr>
            <a:r>
              <a:t>STANDALONE SHELL &amp; CACHING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Vite PWA &amp; Workbox: </a:t>
            </a:r>
            <a:r>
              <a:rPr b="0">
                <a:solidFill>
                  <a:srgbClr val="94A3B8"/>
                </a:solidFill>
              </a:rPr>
              <a:t>Integrates vite-plugin-pwa with auto-updating Service Worker.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Offline Model Pre-Cache: </a:t>
            </a:r>
            <a:r>
              <a:rPr b="0">
                <a:solidFill>
                  <a:srgbClr val="94A3B8"/>
                </a:solidFill>
              </a:rPr>
              <a:t>CacheFirst strategy for @vladmandic/face-api weights (~6MB). Download once, cache locally for 30 days.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Fullscreen Standalone UI: </a:t>
            </a:r>
            <a:r>
              <a:rPr b="0">
                <a:solidFill>
                  <a:srgbClr val="94A3B8"/>
                </a:solidFill>
              </a:rPr>
              <a:t>Eliminates browser URL bar; optimizes mobile viewport for camera capture.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Zero Store Friction: </a:t>
            </a:r>
            <a:r>
              <a:rPr b="0">
                <a:solidFill>
                  <a:srgbClr val="94A3B8"/>
                </a:solidFill>
              </a:rPr>
              <a:t>Instant home screen installation on Android, iOS &amp; Desktop without app store fees.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270" y="1737360"/>
            <a:ext cx="518099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2590" y="1965960"/>
            <a:ext cx="463235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</a:defRPr>
            </a:pPr>
            <a:r>
              <a:t>IMPLEMENTATION STATUS: BUILT &amp; LIVE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Model Load Latency: </a:t>
            </a:r>
            <a:r>
              <a:rPr b="0">
                <a:solidFill>
                  <a:srgbClr val="94A3B8"/>
                </a:solidFill>
              </a:rPr>
              <a:t>Dropped from ~3.8s over 4G to &lt;120ms from local CacheStorage.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Active Service Worker: </a:t>
            </a:r>
            <a:r>
              <a:rPr b="0">
                <a:solidFill>
                  <a:srgbClr val="94A3B8"/>
                </a:solidFill>
              </a:rPr>
              <a:t>dist/manifest.webmanifest and dist/sw.js generated cleanly in production build.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One-Tap Install UI: </a:t>
            </a:r>
            <a:r>
              <a:rPr b="0">
                <a:solidFill>
                  <a:srgbClr val="94A3B8"/>
                </a:solidFill>
              </a:rPr>
              <a:t>InstallPwaButton component active on Login and Dashboard views.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Mobile OS Compatibility: </a:t>
            </a:r>
            <a:r>
              <a:rPr b="0">
                <a:solidFill>
                  <a:srgbClr val="94A3B8"/>
                </a:solidFill>
              </a:rPr>
              <a:t>Verified on Android (Chrome home screen install) and iOS (Safari standalone).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8B5CF6"/>
                </a:solidFill>
                <a:latin typeface="Segoe UI"/>
              </a:defRPr>
            </a:pPr>
            <a:r>
              <a:t>VII SEM PROPOSED UPGRADE (2 OF 5)</a:t>
            </a:r>
          </a:p>
          <a:p>
            <a:pPr>
              <a:spcAft>
                <a:spcPts val="400"/>
              </a:spcAft>
              <a:defRPr sz="2500" b="1">
                <a:solidFill>
                  <a:srgbClr val="F8FAFC"/>
                </a:solidFill>
                <a:latin typeface="Segoe UI"/>
              </a:defRPr>
            </a:pPr>
            <a:r>
              <a:t>Upgrade 02: BLE Proximity Guard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Hardware classroom boundary enforcement to permanently eradicate remote screen-share proxies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8099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6_Picture 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20" y="19659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</a:defRPr>
            </a:pPr>
            <a:r>
              <a:t>ROOM BOUNDARY ENFORCEMENT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The Remote Proxy Attack: </a:t>
            </a:r>
            <a:r>
              <a:rPr b="0">
                <a:solidFill>
                  <a:srgbClr val="94A3B8"/>
                </a:solidFill>
              </a:rPr>
              <a:t>Face recognition verifies WHO is scanning, but NOT WHERE they are physically located.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Classroom BLE Transmitter: </a:t>
            </a:r>
            <a:r>
              <a:rPr b="0">
                <a:solidFill>
                  <a:srgbClr val="94A3B8"/>
                </a:solidFill>
              </a:rPr>
              <a:t>Faculty laptop or a $4 ESP32 beacon broadcasts a rotating ephemeral Service UUID.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Web Bluetooth Scan: </a:t>
            </a:r>
            <a:r>
              <a:rPr b="0">
                <a:solidFill>
                  <a:srgbClr val="94A3B8"/>
                </a:solidFill>
              </a:rPr>
              <a:t>Student PWA scans via navigator.bluetooth upon reading the QR code.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Signal Strength Filter: </a:t>
            </a:r>
            <a:r>
              <a:rPr b="0">
                <a:solidFill>
                  <a:srgbClr val="94A3B8"/>
                </a:solidFill>
              </a:rPr>
              <a:t>Received Signal Strength Indicator (RSSI) must measure &gt;= -75 dBm (5-8m radius).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270" y="1737360"/>
            <a:ext cx="518099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2590" y="1965960"/>
            <a:ext cx="463235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</a:defRPr>
            </a:pPr>
            <a:r>
              <a:t>SECURITY GUARANTEES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Screen-Share Proof: </a:t>
            </a:r>
            <a:r>
              <a:rPr b="0">
                <a:solidFill>
                  <a:srgbClr val="94A3B8"/>
                </a:solidFill>
              </a:rPr>
              <a:t>Students in dorms cannot receive Bluetooth RF signals; proxy streaming is 100% neutralized.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Cryptographic Proof Token: </a:t>
            </a:r>
            <a:r>
              <a:rPr b="0">
                <a:solidFill>
                  <a:srgbClr val="94A3B8"/>
                </a:solidFill>
              </a:rPr>
              <a:t>Student submits { beaconToken, rssi, detectedAt } alongside QR scan.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Challenge Release Gate: </a:t>
            </a:r>
            <a:r>
              <a:rPr b="0">
                <a:solidFill>
                  <a:srgbClr val="94A3B8"/>
                </a:solidFill>
              </a:rPr>
              <a:t>Backend validates BLE proof prior to issuing facial recognition challenge.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Soft Geofence Fallback: </a:t>
            </a:r>
            <a:r>
              <a:rPr b="0">
                <a:solidFill>
                  <a:srgbClr val="94A3B8"/>
                </a:solidFill>
              </a:rPr>
              <a:t>Classroom GPS / Wi-Fi BSSID validation available for devices without Web Bluetooth.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8B5CF6"/>
                </a:solidFill>
                <a:latin typeface="Segoe UI"/>
              </a:defRPr>
            </a:pPr>
            <a:r>
              <a:t>VII SEM PROPOSED UPGRADE (3 OF 5)</a:t>
            </a:r>
          </a:p>
          <a:p>
            <a:pPr>
              <a:spcAft>
                <a:spcPts val="400"/>
              </a:spcAft>
              <a:defRPr sz="2500" b="1">
                <a:solidFill>
                  <a:srgbClr val="F8FAFC"/>
                </a:solidFill>
                <a:latin typeface="Segoe UI"/>
              </a:defRPr>
            </a:pPr>
            <a:r>
              <a:t>Upgrade 03: Server-Verified Biometric Liveness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Replacing client-side trust with dynamic challenge-response sequences and 68-point landmark math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8099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6_Picture 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20" y="19659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8B5CF6"/>
                </a:solidFill>
              </a:defRPr>
            </a:pPr>
            <a:r>
              <a:t>CHALLENGE-RESPONSE PROTOCOL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Randomized Action Nonce: </a:t>
            </a:r>
            <a:r>
              <a:rPr b="0">
                <a:solidFill>
                  <a:srgbClr val="94A3B8"/>
                </a:solidFill>
              </a:rPr>
              <a:t>Server generates unpredictable sequence: e.g., ['turnLeft_30deg', 'blink_twice', 'smile'].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Single-Use Temporal Window: </a:t>
            </a:r>
            <a:r>
              <a:rPr b="0">
                <a:solidFill>
                  <a:srgbClr val="94A3B8"/>
                </a:solidFill>
              </a:rPr>
              <a:t>Strict 4.0s expiration prevents replaying pre-rendered deepfakes or photos.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Dynamic Guidance UI: </a:t>
            </a:r>
            <a:r>
              <a:rPr b="0">
                <a:solidFill>
                  <a:srgbClr val="94A3B8"/>
                </a:solidFill>
              </a:rPr>
              <a:t>Student UI renders animated prompts matching the server's real-time action request.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Zero Client Boolean Trust: </a:t>
            </a:r>
            <a:r>
              <a:rPr b="0">
                <a:solidFill>
                  <a:srgbClr val="94A3B8"/>
                </a:solidFill>
              </a:rPr>
              <a:t>Eliminates vulnerable livenessPassed: true; requires raw geometric transition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270" y="1737360"/>
            <a:ext cx="518099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2590" y="1965960"/>
            <a:ext cx="463235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</a:defRPr>
            </a:pPr>
            <a:r>
              <a:t>MATHEMATICAL LANDMARK VALIDATION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Eye Aspect Ratio (EAR): </a:t>
            </a:r>
            <a:r>
              <a:rPr b="0">
                <a:solidFill>
                  <a:srgbClr val="94A3B8"/>
                </a:solidFill>
              </a:rPr>
              <a:t>EAR = (||p2 - p6|| + ||p3 - p5||) / (2 * ||p1 - p4||). Server verifies dip &lt; 0.20 followed by return to baseline.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Head Yaw Euler Dynamics: </a:t>
            </a:r>
            <a:r>
              <a:rPr b="0">
                <a:solidFill>
                  <a:srgbClr val="94A3B8"/>
                </a:solidFill>
              </a:rPr>
              <a:t>Ratio between nose tip (p31) and outer jaw contours (p1, p17). Server verifies monotonic displacement &gt;= 25 deg.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Temporal Constraints: </a:t>
            </a:r>
            <a:r>
              <a:rPr b="0">
                <a:solidFill>
                  <a:srgbClr val="94A3B8"/>
                </a:solidFill>
              </a:rPr>
              <a:t>Action transition delta verified: 1.5s &lt;= delta_t &lt;= 4.0s. Instant injection attacks rejected.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Anti-Spoofing Defense: </a:t>
            </a:r>
            <a:r>
              <a:rPr b="0">
                <a:solidFill>
                  <a:srgbClr val="94A3B8"/>
                </a:solidFill>
              </a:rPr>
              <a:t>Prevents 2D printed photo attacks, tablet replay videos, and 3D silicone mask fraud.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8B5CF6"/>
                </a:solidFill>
                <a:latin typeface="Segoe UI"/>
              </a:defRPr>
            </a:pPr>
            <a:r>
              <a:t>VII SEM PROPOSED UPGRADE (4 OF 5)</a:t>
            </a:r>
          </a:p>
          <a:p>
            <a:pPr>
              <a:spcAft>
                <a:spcPts val="400"/>
              </a:spcAft>
              <a:defRPr sz="2500" b="1">
                <a:solidFill>
                  <a:srgbClr val="F8FAFC"/>
                </a:solidFill>
                <a:latin typeface="Segoe UI"/>
              </a:defRPr>
            </a:pPr>
            <a:r>
              <a:t>Upgrade 04: Predictive Debarment Engine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Proactive cutoff forecasting and Debarment Risk Index (DRI) to prevent attendance debarment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8099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6_Picture 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45920" y="19659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BBF24"/>
                </a:solidFill>
              </a:defRPr>
            </a:pPr>
            <a:r>
              <a:t>MATHEMATICAL DRI MODEL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Remaining Sessions: </a:t>
            </a:r>
            <a:r>
              <a:rPr b="0">
                <a:solidFill>
                  <a:srgbClr val="94A3B8"/>
                </a:solidFill>
              </a:rPr>
              <a:t>N_rem = Total_Planned_Lectures - Conducted_Lectures.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Max Achievable %: </a:t>
            </a:r>
            <a:r>
              <a:rPr b="0">
                <a:solidFill>
                  <a:srgbClr val="94A3B8"/>
                </a:solidFill>
              </a:rPr>
              <a:t>Max% = ((Attended_Lectures + N_rem) / Total_Planned) * 100.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Required Sessions: </a:t>
            </a:r>
            <a:r>
              <a:rPr b="0">
                <a:solidFill>
                  <a:srgbClr val="94A3B8"/>
                </a:solidFill>
              </a:rPr>
              <a:t>N_req = max(0, ceil(0.75 * Total_Planned) - Attended_Lectures).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Debarment Risk Index: </a:t>
            </a:r>
            <a:r>
              <a:rPr b="0">
                <a:solidFill>
                  <a:srgbClr val="94A3B8"/>
                </a:solidFill>
              </a:rPr>
              <a:t>DRI = 100% if Max% &lt; 75% (Mathematically Debarred). Otherwise: DRI = (N_req / N_rem) * 100.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270" y="1737360"/>
            <a:ext cx="518099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2590" y="1965960"/>
            <a:ext cx="463235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</a:defRPr>
            </a:pPr>
            <a:r>
              <a:t>PROACTIVE INSTITUTIONAL INTERVENTIONS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Student Risk Radar Badge: </a:t>
            </a:r>
            <a:r>
              <a:rPr b="0">
                <a:solidFill>
                  <a:srgbClr val="94A3B8"/>
                </a:solidFill>
              </a:rPr>
              <a:t>Safe (&lt;25% DRI), Warning (25–50% DRI), Critical Risk (&gt;50% DRI), Debarred.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'What-If' Attendance Simulator: </a:t>
            </a:r>
            <a:r>
              <a:rPr b="0">
                <a:solidFill>
                  <a:srgbClr val="94A3B8"/>
                </a:solidFill>
              </a:rPr>
              <a:t>Student utility calculates exactly how many consecutive lectures they must attend to recover.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Proactive Warning Alerts: </a:t>
            </a:r>
            <a:r>
              <a:rPr b="0">
                <a:solidFill>
                  <a:srgbClr val="94A3B8"/>
                </a:solidFill>
              </a:rPr>
              <a:t>Automated email/push warnings dispatched when attendance dips below 80% (before 75% cutoff).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✔  Faculty Cohort Watchlist: </a:t>
            </a:r>
            <a:r>
              <a:rPr b="0">
                <a:solidFill>
                  <a:srgbClr val="94A3B8"/>
                </a:solidFill>
              </a:rPr>
              <a:t>Instructors identify at-risk students 4 weeks before final exams, enabling timely academic counseling.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8B5CF6"/>
                </a:solidFill>
                <a:latin typeface="Segoe UI"/>
              </a:defRPr>
            </a:pPr>
            <a:r>
              <a:t>VII SEM PROPOSED UPGRADE (5 OF 5)</a:t>
            </a:r>
          </a:p>
          <a:p>
            <a:pPr>
              <a:spcAft>
                <a:spcPts val="400"/>
              </a:spcAft>
              <a:defRPr sz="2500" b="1">
                <a:solidFill>
                  <a:srgbClr val="F8FAFC"/>
                </a:solidFill>
                <a:latin typeface="Segoe UI"/>
              </a:defRPr>
            </a:pPr>
            <a:r>
              <a:t>Upgrade 05: Automated Timetable Engine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Automating lecture session lifecycles to eliminate manual instructor triggers and human forgetfulness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32073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87487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t>T-5 MIN (PRE-LECTURE)</a:t>
            </a:r>
          </a:p>
          <a:p>
            <a:pPr>
              <a:spcAft>
                <a:spcPts val="1600"/>
              </a:spcAft>
              <a:defRPr sz="1500" b="1">
                <a:solidFill>
                  <a:srgbClr val="F8FAFC"/>
                </a:solidFill>
              </a:defRPr>
            </a:pPr>
            <a:r>
              <a:t>Auto-Session Genesis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Background node-cron daemon monitors university timetable.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Initializes AttendanceSession in 'ready' state with cryptographic secret.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Zero instructor intervention needed to configure lecture room.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353" y="1737360"/>
            <a:ext cx="3332073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7953" y="2011680"/>
            <a:ext cx="287487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855F7"/>
                </a:solidFill>
              </a:defRPr>
            </a:pPr>
            <a:r>
              <a:t>T+0 TO T+60 (LECTURE)</a:t>
            </a:r>
          </a:p>
          <a:p>
            <a:pPr>
              <a:spcAft>
                <a:spcPts val="1600"/>
              </a:spcAft>
              <a:defRPr sz="1500" b="1">
                <a:solidFill>
                  <a:srgbClr val="F8FAFC"/>
                </a:solidFill>
              </a:defRPr>
            </a:pPr>
            <a:r>
              <a:t>Instant Screen Activation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Faculty unlocks device: active rotating QR code immediately renders.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Room collision guard prevents overlapping sessions in same room.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Substitute faculty delegation supported if regular professor is on leave.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186" y="1737360"/>
            <a:ext cx="3332073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55786" y="2011680"/>
            <a:ext cx="2874873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4D399"/>
                </a:solidFill>
              </a:defRPr>
            </a:pPr>
            <a:r>
              <a:t>T+60 MIN (POST-LECTURE)</a:t>
            </a:r>
          </a:p>
          <a:p>
            <a:pPr>
              <a:spcAft>
                <a:spcPts val="1600"/>
              </a:spcAft>
              <a:defRPr sz="1500" b="1">
                <a:solidFill>
                  <a:srgbClr val="F8FAFC"/>
                </a:solidFill>
              </a:defRPr>
            </a:pPr>
            <a:r>
              <a:t>Auto-Lock &amp; LMS Sync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Session auto-closed at lecture conclusion + 5 min grace period.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Unrecorded students marked as Absent atomically.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• Direct attendance record sync to university LMS (Moodle / Google Classroom).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8B5CF6"/>
                </a:solidFill>
                <a:latin typeface="Segoe UI"/>
              </a:defRPr>
            </a:pPr>
            <a:r>
              <a:t>TECHNICAL ROADMAP</a:t>
            </a:r>
          </a:p>
          <a:p>
            <a:pPr>
              <a:spcAft>
                <a:spcPts val="400"/>
              </a:spcAft>
              <a:defRPr sz="2500" b="1">
                <a:solidFill>
                  <a:srgbClr val="F8FAFC"/>
                </a:solidFill>
                <a:latin typeface="Segoe UI"/>
              </a:defRPr>
            </a:pPr>
            <a:r>
              <a:t>Five-Phase Work Breakdown Structure (WBS)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Structured phased implementation plan taking SAS from mid-semester review to campus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96596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34D399"/>
                </a:solidFill>
              </a:defRPr>
            </a:pPr>
            <a:r>
              <a:t>PHASE 1  •  COMPLETED</a:t>
            </a:r>
          </a:p>
          <a:p>
            <a:pPr>
              <a:spcAft>
                <a:spcPts val="1600"/>
              </a:spcAft>
              <a:defRPr sz="1300" b="1">
                <a:solidFill>
                  <a:srgbClr val="F8FAFC"/>
                </a:solidFill>
              </a:defRPr>
            </a:pPr>
            <a:r>
              <a:t>PWA Foundation &amp; Cache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Vite-plugin-pwa engine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Workbox model cache (~6MB)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Standalone mobile manifest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One-tap install button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1508" y="1737360"/>
            <a:ext cx="196596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58668" y="196596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FBBF24"/>
                </a:solidFill>
              </a:defRPr>
            </a:pPr>
            <a:r>
              <a:t>PHASE 2  •  ACTIVE</a:t>
            </a:r>
          </a:p>
          <a:p>
            <a:pPr>
              <a:spcAft>
                <a:spcPts val="1600"/>
              </a:spcAft>
              <a:defRPr sz="1300" b="1">
                <a:solidFill>
                  <a:srgbClr val="F8FAFC"/>
                </a:solidFill>
              </a:defRPr>
            </a:pPr>
            <a:r>
              <a:t>Predictive Analytics &amp; DRI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DRI mathematical scoring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Student risk radar badge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Faculty watchlist alerts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Proactive email triggers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11496" y="1737360"/>
            <a:ext cx="196596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48656" y="196596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8B5CF6"/>
                </a:solidFill>
              </a:defRPr>
            </a:pPr>
            <a:r>
              <a:t>PHASE 3  •  UPCOMING</a:t>
            </a:r>
          </a:p>
          <a:p>
            <a:pPr>
              <a:spcAft>
                <a:spcPts val="1600"/>
              </a:spcAft>
              <a:defRPr sz="1300" b="1">
                <a:solidFill>
                  <a:srgbClr val="F8FAFC"/>
                </a:solidFill>
              </a:defRPr>
            </a:pPr>
            <a:r>
              <a:t>Server Liveness Pipeline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Randomized action nonces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68-pt EAR blink curve math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Head yaw Euler dynamics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Anti-spoof rejection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01484" y="1737360"/>
            <a:ext cx="196596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8644" y="196596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38BDF8"/>
                </a:solidFill>
              </a:defRPr>
            </a:pPr>
            <a:r>
              <a:t>PHASE 4  •  UPCOMING</a:t>
            </a:r>
          </a:p>
          <a:p>
            <a:pPr>
              <a:spcAft>
                <a:spcPts val="1600"/>
              </a:spcAft>
              <a:defRPr sz="1300" b="1">
                <a:solidFill>
                  <a:srgbClr val="F8FAFC"/>
                </a:solidFill>
              </a:defRPr>
            </a:pPr>
            <a:r>
              <a:t>BLE Proximity Guard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Classroom ESP32 beacons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navigator.bluetooth API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RSSI &gt;= -75 dBm filter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Screen-share proxy block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91472" y="1737360"/>
            <a:ext cx="1965960" cy="44805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28632" y="196596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A855F7"/>
                </a:solidFill>
              </a:defRPr>
            </a:pPr>
            <a:r>
              <a:t>PHASE 5  •  VIII SEM</a:t>
            </a:r>
          </a:p>
          <a:p>
            <a:pPr>
              <a:spcAft>
                <a:spcPts val="1600"/>
              </a:spcAft>
              <a:defRPr sz="1300" b="1">
                <a:solidFill>
                  <a:srgbClr val="F8FAFC"/>
                </a:solidFill>
              </a:defRPr>
            </a:pPr>
            <a:r>
              <a:t>Timetable &amp; LMS Sync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node-cron auto daemon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Pre-lecture auto-start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Moodle / ERP sync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</a:defRPr>
            </a:pPr>
            <a:r>
              <a:t>• Campus pilot trial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8B5CF6"/>
                </a:solidFill>
                <a:latin typeface="Segoe UI"/>
              </a:defRPr>
            </a:pPr>
            <a:r>
              <a:t>EVALUATION SYNTHESIS</a:t>
            </a:r>
          </a:p>
          <a:p>
            <a:pPr>
              <a:spcAft>
                <a:spcPts val="400"/>
              </a:spcAft>
              <a:defRPr sz="2500" b="1">
                <a:solidFill>
                  <a:srgbClr val="F8FAFC"/>
                </a:solidFill>
                <a:latin typeface="Segoe UI"/>
              </a:defRPr>
            </a:pPr>
            <a:r>
              <a:t>Comparative Evolution Matrix: VI Sem vs. VII Sem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Direct side-by-side contrast demonstrating the leap in security, intelligence, and operations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7277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75150"/>
                <a:gridCol w="4175150"/>
              </a:tblGrid>
              <a:tr h="746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VI Sem Baseline Prototype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VII Sem Production Architecture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Platform &amp; Delivery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Mobile Web Browser</a:t>
                      </a:r>
                      <a:br/>
                      <a:r>
                        <a:t>• URL bar clipping, slow 6MB download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</a:defRPr>
                      </a:pPr>
                      <a:r>
                        <a:t>Progressive Web App (PWA)</a:t>
                      </a:r>
                      <a:br/>
                      <a:r>
                        <a:t>• Standalone UI, Workbox offline model cache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Physical Security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Virtual Only (Rotating QR)</a:t>
                      </a:r>
                      <a:br/>
                      <a:r>
                        <a:t>• Vulnerable to remote screen-share proxies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</a:defRPr>
                      </a:pPr>
                      <a:r>
                        <a:t>Dual Physical + Biometric</a:t>
                      </a:r>
                      <a:br/>
                      <a:r>
                        <a:t>• BLE hardware beacon enforces room boundary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Anti-Spoofing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Client Boolean (livenessPassed)</a:t>
                      </a:r>
                      <a:br/>
                      <a:r>
                        <a:t>• Blindly trusted, vulnerable to API tampering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</a:defRPr>
                      </a:pPr>
                      <a:r>
                        <a:t>Server-Verified Challenge Pipeline</a:t>
                      </a:r>
                      <a:br/>
                      <a:r>
                        <a:t>• 68-point EAR blink &amp; head yaw Euler math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Analytics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Static Historical Percentage</a:t>
                      </a:r>
                      <a:br/>
                      <a:r>
                        <a:t>• Reactive tracking, purely retrospective logs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</a:defRPr>
                      </a:pPr>
                      <a:r>
                        <a:t>Predictive Debarment Risk Index (DRI)</a:t>
                      </a:r>
                      <a:br/>
                      <a:r>
                        <a:t>• Trajectory forecasting &amp; proactive &lt;80% alerts</a:t>
                      </a:r>
                    </a:p>
                  </a:txBody>
                  <a:tcPr>
                    <a:solidFill>
                      <a:srgbClr val="18203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100% Manual Lifecycle</a:t>
                      </a:r>
                      <a:br/>
                      <a:r>
                        <a:t>• Faculty manually configures each lecture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4D399"/>
                          </a:solidFill>
                        </a:defRPr>
                      </a:pPr>
                      <a:r>
                        <a:t>Automated Timetable Engine</a:t>
                      </a:r>
                      <a:br/>
                      <a:r>
                        <a:t>• node-cron auto-start/end &amp; LMS roster sync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8B5CF6"/>
                </a:solidFill>
                <a:latin typeface="Segoe UI"/>
              </a:defRPr>
            </a:pPr>
            <a:r>
              <a:t>CAPSTONE REVIEW CONCLUSION</a:t>
            </a:r>
          </a:p>
          <a:p>
            <a:pPr>
              <a:spcAft>
                <a:spcPts val="400"/>
              </a:spcAft>
              <a:defRPr sz="2500" b="1">
                <a:solidFill>
                  <a:srgbClr val="F8FAFC"/>
                </a:solidFill>
                <a:latin typeface="Segoe UI"/>
              </a:defRPr>
            </a:pPr>
            <a:r>
              <a:t>Meet the Team &amp; Technical Q&amp;A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Department of Computer Science &amp; Engineering  •  Open for Review Committee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965960" cy="25603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9_Picture 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01168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60604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Radesh Annam</a:t>
            </a:r>
          </a:p>
          <a:p>
            <a:pPr algn="ctr">
              <a:spcAft>
                <a:spcPts val="400"/>
              </a:spcAft>
              <a:defRPr sz="1050">
                <a:solidFill>
                  <a:srgbClr val="A855F7"/>
                </a:solidFill>
              </a:defRPr>
            </a:pPr>
            <a:r>
              <a:t>LCI2023020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Team Member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1508" y="1737360"/>
            <a:ext cx="1965960" cy="25603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_9_Picture 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01168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2948" y="260604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Nithin Sagili</a:t>
            </a:r>
          </a:p>
          <a:p>
            <a:pPr algn="ctr">
              <a:spcAft>
                <a:spcPts val="400"/>
              </a:spcAft>
              <a:defRPr sz="1050">
                <a:solidFill>
                  <a:srgbClr val="A855F7"/>
                </a:solidFill>
              </a:defRPr>
            </a:pPr>
            <a:r>
              <a:t>LCI2023040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Team Member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737360"/>
            <a:ext cx="1965960" cy="25603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_9_Picture 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01168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02936" y="260604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Pranilash Reddy</a:t>
            </a:r>
          </a:p>
          <a:p>
            <a:pPr algn="ctr">
              <a:spcAft>
                <a:spcPts val="400"/>
              </a:spcAft>
              <a:defRPr sz="1050">
                <a:solidFill>
                  <a:srgbClr val="A855F7"/>
                </a:solidFill>
              </a:defRPr>
            </a:pPr>
            <a:r>
              <a:t>LCB2023040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Team Member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1484" y="1737360"/>
            <a:ext cx="1965960" cy="25603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_9_Picture 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201168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92924" y="260604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Ranadeep Yeggoni</a:t>
            </a:r>
          </a:p>
          <a:p>
            <a:pPr algn="ctr">
              <a:spcAft>
                <a:spcPts val="400"/>
              </a:spcAft>
              <a:defRPr sz="1050">
                <a:solidFill>
                  <a:srgbClr val="A855F7"/>
                </a:solidFill>
              </a:defRPr>
            </a:pPr>
            <a:r>
              <a:t>LCB2023020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Team Member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1472" y="1737360"/>
            <a:ext cx="1965960" cy="25603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lide_9_Picture 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852" y="201168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82912" y="260604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Tanishq Kancharla</a:t>
            </a:r>
          </a:p>
          <a:p>
            <a:pPr algn="ctr">
              <a:spcAft>
                <a:spcPts val="400"/>
              </a:spcAft>
              <a:defRPr sz="1050">
                <a:solidFill>
                  <a:srgbClr val="A855F7"/>
                </a:solidFill>
              </a:defRPr>
            </a:pPr>
            <a:r>
              <a:t>LCS2023034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Team Member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182033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63440"/>
            <a:ext cx="99971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4D399"/>
                </a:solidFill>
              </a:defRPr>
            </a:pPr>
            <a:r>
              <a:t>SUMMARY OF VII SEMESTER COMMITMENT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Phase 1 (Progressive Web App) is fully implemented &amp; compiled in code. Phased blueprints for BLE Proximity, Dynamic Liveness Math, and Predictive DRI Analytics are ready for execution.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Thank You!  —  Open for Faculty Evaluation &amp; Architecture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