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7C3AED"/>
                </a:solidFill>
              </a:defRPr>
            </a:pPr>
            <a:r>
              <a:t>B.TECH CAPSTONE MAJOR PROJECT — VII SEMESTER MID-TERM REVIEW</a:t>
            </a:r>
          </a:p>
          <a:p>
            <a:pPr>
              <a:spcAft>
                <a:spcPts val="600"/>
              </a:spcAft>
              <a:defRPr sz="3600" b="1">
                <a:solidFill>
                  <a:srgbClr val="F1F5F9"/>
                </a:solidFill>
              </a:defRPr>
            </a:pPr>
            <a:r>
              <a:t>Smart Attendance System (SAS)</a:t>
            </a:r>
          </a:p>
          <a:p>
            <a:pPr>
              <a:spcAft>
                <a:spcPts val="2400"/>
              </a:spcAft>
              <a:defRPr sz="2000">
                <a:solidFill>
                  <a:srgbClr val="C7D2FE"/>
                </a:solidFill>
              </a:defRPr>
            </a:pPr>
            <a:r>
              <a:t>Architectural Hardening, BLE Proximity Verification &amp; Advanced Anti-Spoofing</a:t>
            </a:r>
          </a:p>
          <a:p>
            <a:pPr>
              <a:spcAft>
                <a:spcPts val="3200"/>
              </a:spcAft>
              <a:defRPr sz="1400">
                <a:solidFill>
                  <a:srgbClr val="94A3B8"/>
                </a:solidFill>
              </a:defRPr>
            </a:pPr>
            <a:r>
              <a:t>Evolution from VI Semester Dual-Factor Web Prototype to an Enterprise-Grade Multi-Factor Platform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Track: Major Project Phase-I (VII Sem)  |  Base: IIIT Lucknow B.Tech VI Sem Prototype  |  Stack: MERN + PWA + 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VI SEM FOUNDATION (1 OF 3)</a:t>
            </a:r>
          </a:p>
          <a:p>
            <a:pPr>
              <a:spcAft>
                <a:spcPts val="3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System Architecture &amp; Core Role Hierarchy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Established baseline: 3-Tier decoupled MERN stack with strict Role-Based Access Control (RBAC)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207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96631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PRESENTATION LAYER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React 18 Single Page App: </a:t>
            </a:r>
            <a:r>
              <a:rPr b="0">
                <a:solidFill>
                  <a:srgbClr val="64748B"/>
                </a:solidFill>
              </a:rPr>
              <a:t>Built with modern component modularity and responsive layouts via Tailwind CSS.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Client State Management: </a:t>
            </a:r>
            <a:r>
              <a:rPr b="0">
                <a:solidFill>
                  <a:srgbClr val="64748B"/>
                </a:solidFill>
              </a:rPr>
              <a:t>Zustand authStore managing session state and profile reactive context.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Client-Side Inference: </a:t>
            </a:r>
            <a:r>
              <a:rPr b="0">
                <a:solidFill>
                  <a:srgbClr val="64748B"/>
                </a:solidFill>
              </a:rPr>
              <a:t>@vladmandic/face-api executing SSD MobileNet &amp; 68-point facial landmark models in browser.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Hardware Integration: </a:t>
            </a:r>
            <a:r>
              <a:rPr b="0">
                <a:solidFill>
                  <a:srgbClr val="64748B"/>
                </a:solidFill>
              </a:rPr>
              <a:t>Webcam streaming via WebRTC getUserMedia and QR capture via html5-qrcode.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1828800"/>
            <a:ext cx="333207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233" y="2057400"/>
            <a:ext cx="296631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C3AED"/>
                </a:solidFill>
              </a:defRPr>
            </a:pPr>
            <a:r>
              <a:t>APPLICATION LAYER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Express.js REST Engine: </a:t>
            </a:r>
            <a:r>
              <a:rPr b="0">
                <a:solidFill>
                  <a:srgbClr val="64748B"/>
                </a:solidFill>
              </a:rPr>
              <a:t>Modular MVC architecture (routes, controllers, middlewares, models, validators).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JWT Authentication Flow: </a:t>
            </a:r>
            <a:r>
              <a:rPr b="0">
                <a:solidFill>
                  <a:srgbClr val="64748B"/>
                </a:solidFill>
              </a:rPr>
              <a:t>Access tokens (1-day) &amp; HttpOnly Refresh cookies (10-day) with rotation handling.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Cryptographic QR Signing: </a:t>
            </a:r>
            <a:r>
              <a:rPr b="0">
                <a:solidFill>
                  <a:srgbClr val="64748B"/>
                </a:solidFill>
              </a:rPr>
              <a:t>HMAC-SHA256 signature generation bound to ephemeral session secrets.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Zod &amp; Security Middleware: </a:t>
            </a:r>
            <a:r>
              <a:rPr b="0">
                <a:solidFill>
                  <a:srgbClr val="64748B"/>
                </a:solidFill>
              </a:rPr>
              <a:t>Strict schema sanitization, helmet headers, rate-limiting, and CORS guards.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186" y="1828800"/>
            <a:ext cx="333207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066" y="2057400"/>
            <a:ext cx="296631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DATA &amp; ROLE HIERARCHY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MongoDB &amp; Mongoose ODM: </a:t>
            </a:r>
            <a:r>
              <a:rPr b="0">
                <a:solidFill>
                  <a:srgbClr val="64748B"/>
                </a:solidFill>
              </a:rPr>
              <a:t>Strict schemas: AttendanceUser, Department, Class, AttendanceSession, Attendance.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Administrator Persona: </a:t>
            </a:r>
            <a:r>
              <a:rPr b="0">
                <a:solidFill>
                  <a:srgbClr val="64748B"/>
                </a:solidFill>
              </a:rPr>
              <a:t>Manages institutional departments, creates faculty accounts, audits global statistics.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Faculty Persona: </a:t>
            </a:r>
            <a:r>
              <a:rPr b="0">
                <a:solidFill>
                  <a:srgbClr val="64748B"/>
                </a:solidFill>
              </a:rPr>
              <a:t>Curates courses, schedules lectures, monitors real-time session counters, exports CSV sheets.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Student Persona: </a:t>
            </a:r>
            <a:r>
              <a:rPr b="0">
                <a:solidFill>
                  <a:srgbClr val="64748B"/>
                </a:solidFill>
              </a:rPr>
              <a:t>Enrolls 128D facial biometric template, scans session QR, undergoes face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VI SEM FOUNDATION (2 OF 3)</a:t>
            </a:r>
          </a:p>
          <a:p>
            <a:pPr>
              <a:spcAft>
                <a:spcPts val="3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Dual-Factor Biometric Verification Pipeline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Algorithm 1 implementation: Interleaving rotating cryptographic QR tokens with 128D facial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9905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00584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Session Initialization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Faculty selects enrolled Class &amp; triggers session.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Backend generates random sessionSecret and sets isActive=true.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Live attendance counter reset to 0 in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3805" y="1828800"/>
            <a:ext cx="249905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6685" y="2011680"/>
            <a:ext cx="100584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6685" y="246888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Dynamic QR Rotation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Faculty screen renders QR code refreshed every 14 seconds.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Payload signed with HMAC-SHA256 (sessionId:timestamp:secret).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Server enforces strict 30s acceptance tolerance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6090" y="1828800"/>
            <a:ext cx="249905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98970" y="2011680"/>
            <a:ext cx="10058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8970" y="246888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Biometric Extraction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Student scans dynamic QR via mobile camera.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Webcam captures video frame; extracts 68 facial landmarks.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Generates 128-dimensional floating point embedding vector.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8375" y="1828800"/>
            <a:ext cx="249905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1255" y="2011680"/>
            <a:ext cx="10058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1255" y="246888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Matching &amp; Record Mark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Server compares vector against student's enrolled template.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Euclidean Distance &lt;= 0.6 / Cosine Similarity evaluated.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If matched, Attendance record markedAt timestamp created.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VI SEM FOUNDATION (3 OF 3)</a:t>
            </a:r>
          </a:p>
          <a:p>
            <a:pPr>
              <a:spcAft>
                <a:spcPts val="3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Prototype Validation &amp; Identified Limitations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Evaluating experimental achievements against residual vulnerabilities observed during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PROTOTYPE VALIDATION ACHIEVEMENTS (TABLE 4.1)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Tamper-Resistant QR Validation: </a:t>
            </a:r>
            <a:r>
              <a:rPr b="0">
                <a:solidFill>
                  <a:srgbClr val="64748B"/>
                </a:solidFill>
              </a:rPr>
              <a:t>Forged signatures and manipulated session IDs successfully rejected (100% rejection rate).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Biometric Differentiation: </a:t>
            </a:r>
            <a:r>
              <a:rPr b="0">
                <a:solidFill>
                  <a:srgbClr val="64748B"/>
                </a:solidFill>
              </a:rPr>
              <a:t>Unmatched face embeddings rejected under Euclidean threshold &lt;= 0.6 with zero false marks.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Concurrency Idempotency: </a:t>
            </a:r>
            <a:r>
              <a:rPr b="0">
                <a:solidFill>
                  <a:srgbClr val="64748B"/>
                </a:solidFill>
              </a:rPr>
              <a:t>Atomic challenge nonces and compound indexes guarantee zero double-marking under race conditions.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Automated Reporting: </a:t>
            </a:r>
            <a:r>
              <a:rPr b="0">
                <a:solidFill>
                  <a:srgbClr val="64748B"/>
                </a:solidFill>
              </a:rPr>
              <a:t>Instant CSV generation and faculty export reducing administrative attendance processing by &gt;80%.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82880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2590" y="201168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EF4444"/>
                </a:solidFill>
              </a:defRPr>
            </a:pPr>
            <a:r>
              <a:t>CRITICAL LIMITATIONS IDENTIFIED FOR VII SEMESTER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✘ The Remote Screen-Sharing Proxy Loophole: </a:t>
            </a:r>
            <a:r>
              <a:rPr b="0">
                <a:solidFill>
                  <a:srgbClr val="64748B"/>
                </a:solidFill>
              </a:rPr>
              <a:t>A student present in class can stream the QR via WhatsApp/Discord to an absent peer, who scans and passes face verification from home.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✘ Client-Trusted Liveness Detection: </a:t>
            </a:r>
            <a:r>
              <a:rPr b="0">
                <a:solidFill>
                  <a:srgbClr val="64748B"/>
                </a:solidFill>
              </a:rPr>
              <a:t>Current anti-spoofing relies on the frontend transmitting livenessPassed: true, leaving it vulnerable to automated API tampering.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✘ Browser Constrained User Experience: </a:t>
            </a:r>
            <a:r>
              <a:rPr b="0">
                <a:solidFill>
                  <a:srgbClr val="64748B"/>
                </a:solidFill>
              </a:rPr>
              <a:t>Webcam access within standard mobile browsers suffers from address-bar clipping, permissions friction, and slow 6MB model downloads.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✘ Reactive Attendance Management: </a:t>
            </a:r>
            <a:r>
              <a:rPr b="0">
                <a:solidFill>
                  <a:srgbClr val="64748B"/>
                </a:solidFill>
              </a:rPr>
              <a:t>Attendance is tracked retroactively; students and faculty only discover debarment status (&lt;75%) when it is mathematically irreversible.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VII SEM PROPOSED UPGRADE (1 OF 5)</a:t>
            </a:r>
          </a:p>
          <a:p>
            <a:pPr>
              <a:spcAft>
                <a:spcPts val="3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Progressive Web App (PWA) &amp; Offline Asset Pre-Caching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Transforming web prototype into an installable, standalone mobile application with zero App Store friction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4F46E5"/>
                </a:solidFill>
              </a:defRPr>
            </a:pPr>
            <a:r>
              <a:t>TECHNICAL ARCHITECTURE &amp; MECHANISM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Vite PWA &amp; Workbox Service Worker: </a:t>
            </a:r>
            <a:r>
              <a:rPr b="0">
                <a:solidFill>
                  <a:srgbClr val="64748B"/>
                </a:solidFill>
              </a:rPr>
              <a:t>Embedded vite-plugin-pwa runtime service worker handling asset precaching and lifecycle.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Neural Network Weight Caching: </a:t>
            </a:r>
            <a:r>
              <a:rPr b="0">
                <a:solidFill>
                  <a:srgbClr val="64748B"/>
                </a:solidFill>
              </a:rPr>
              <a:t>Configured CacheFirst Workbox rule for @vladmandic/face-api model shards (~6MB), caching them locally for 30 days to eliminate network lag.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Standalone Mobile Display: </a:t>
            </a:r>
            <a:r>
              <a:rPr b="0">
                <a:solidFill>
                  <a:srgbClr val="64748B"/>
                </a:solidFill>
              </a:rPr>
              <a:t>Web App Manifest configured with display: standalone and viewport-fit=cover, removing browser navigation bars.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Zero App Store Friction: </a:t>
            </a:r>
            <a:r>
              <a:rPr b="0">
                <a:solidFill>
                  <a:srgbClr val="64748B"/>
                </a:solidFill>
              </a:rPr>
              <a:t>Students install the app directly with one tap from Chrome/Safari without paying Apple/Google developer fees.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82880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2590" y="201168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QUANTITATIVE IMPACT &amp; CURRENT STATUS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First-Load Latency Reduction: </a:t>
            </a:r>
            <a:r>
              <a:rPr b="0">
                <a:solidFill>
                  <a:srgbClr val="64748B"/>
                </a:solidFill>
              </a:rPr>
              <a:t>Model load time reduced from 3.8s over 4G to &lt;120ms from local CacheStorage.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Camera Canvas Reliability: </a:t>
            </a:r>
            <a:r>
              <a:rPr b="0">
                <a:solidFill>
                  <a:srgbClr val="64748B"/>
                </a:solidFill>
              </a:rPr>
              <a:t>100% viewport utilization eliminating accidental scroll and gesture cancellations.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Current Development Status: </a:t>
            </a:r>
            <a:r>
              <a:rPr b="0">
                <a:solidFill>
                  <a:srgbClr val="64748B"/>
                </a:solidFill>
              </a:rPr>
              <a:t>FULLY IMPLEMENTED &amp; COMPILED in current codebase: manifest.webmanifest, sw.js, and InstallPwaButton live.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Cross-Platform Support: </a:t>
            </a:r>
            <a:r>
              <a:rPr b="0">
                <a:solidFill>
                  <a:srgbClr val="64748B"/>
                </a:solidFill>
              </a:rPr>
              <a:t>Verified functional on Android Chrome (Home Screen install) and desktop Edge/Chrome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VII SEM PROPOSED UPGRADE (2 OF 5)</a:t>
            </a:r>
          </a:p>
          <a:p>
            <a:pPr>
              <a:spcAft>
                <a:spcPts val="3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Physical Proximity Verification via BLE Beacons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Enforcing physical classroom boundary security to eliminate remote screen-sharing proxy attendance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207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96631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EF4444"/>
                </a:solidFill>
              </a:defRPr>
            </a:pPr>
            <a:r>
              <a:t>THE PROXY ATTACK VECTOR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In virtual-only verification, a dynamic QR code can be photographed or live-streamed to absent students in hostels or outside campus.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Biometric face verification only proves WHO is present, NOT WHERE they are physically situated.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1828800"/>
            <a:ext cx="333207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233" y="2057400"/>
            <a:ext cx="296631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F46E5"/>
                </a:solidFill>
              </a:defRPr>
            </a:pPr>
            <a:r>
              <a:t>HARDWARE &amp; PROTOCOL DESIGN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Beacon Advertisement: </a:t>
            </a:r>
            <a:r>
              <a:rPr b="0">
                <a:solidFill>
                  <a:srgbClr val="64748B"/>
                </a:solidFill>
              </a:rPr>
              <a:t>Classroom ESP32 beacon or faculty laptop broadcasts temporary BLE Service UUID with rolling token.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Web Bluetooth Scan: </a:t>
            </a:r>
            <a:r>
              <a:rPr b="0">
                <a:solidFill>
                  <a:srgbClr val="64748B"/>
                </a:solidFill>
              </a:rPr>
              <a:t>Student's PWA scans for beacon via navigator.bluetooth upon scanning QR.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Signal Filtering: </a:t>
            </a:r>
            <a:r>
              <a:rPr b="0">
                <a:solidFill>
                  <a:srgbClr val="64748B"/>
                </a:solidFill>
              </a:rPr>
              <a:t>Received Signal Strength Indicator (RSSI) must measure &gt;= -75 dBm (5-8m radius).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Token Binding: </a:t>
            </a:r>
            <a:r>
              <a:rPr b="0">
                <a:solidFill>
                  <a:srgbClr val="64748B"/>
                </a:solidFill>
              </a:rPr>
              <a:t>Cryptographic BLE proof sent with QR scan; validated prior to challenge release.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186" y="1828800"/>
            <a:ext cx="333207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066" y="2057400"/>
            <a:ext cx="296631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PROXIMITY GUARANTEES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✔ Zero Screen-Share Exploits: </a:t>
            </a:r>
            <a:r>
              <a:rPr b="0">
                <a:solidFill>
                  <a:srgbClr val="64748B"/>
                </a:solidFill>
              </a:rPr>
              <a:t>Remote students cannot scan or forge the BLE signal; proxy attendance via stream is completely eradicated.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✔ Low Hardware Cost: </a:t>
            </a:r>
            <a:r>
              <a:rPr b="0">
                <a:solidFill>
                  <a:srgbClr val="64748B"/>
                </a:solidFill>
              </a:rPr>
              <a:t>ESP32 microcontrollers cost &lt;$4 per classroom, or faculty laptop acts as soft-beacon.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✔ Dual-Layer Defense: </a:t>
            </a:r>
            <a:r>
              <a:rPr b="0">
                <a:solidFill>
                  <a:srgbClr val="64748B"/>
                </a:solidFill>
              </a:rPr>
              <a:t>Attendance requires BOTH physical presence (BLE) AND biometric identity (Face).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✔ Graceful Degradation: </a:t>
            </a:r>
            <a:r>
              <a:rPr b="0">
                <a:solidFill>
                  <a:srgbClr val="64748B"/>
                </a:solidFill>
              </a:rPr>
              <a:t>Classroom-specific geofencing / Wi-Fi BSSID fallback for non-Bluetooth devices.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VII SEM PROPOSED UPGRADE (3 OF 5)</a:t>
            </a:r>
          </a:p>
          <a:p>
            <a:pPr>
              <a:spcAft>
                <a:spcPts val="3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Server-Verified Dynamic Liveness &amp; Anti-Spoofing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Eliminating naive client booleans with server-orchestrated action challenges and landmark mathematics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7C3AED"/>
                </a:solidFill>
              </a:defRPr>
            </a:pPr>
            <a:r>
              <a:t>DYNAMIC SERVER CHALLENGE PROTOCOL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Randomized Action Nonce: </a:t>
            </a:r>
            <a:r>
              <a:rPr b="0">
                <a:solidFill>
                  <a:srgbClr val="64748B"/>
                </a:solidFill>
              </a:rPr>
              <a:t>Server generates ephemeral challenge sequence: e.g., ['turnLeft_30deg', 'blink_twice', 'smile'] with a strict 4.0s expiration.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Anti-Replay Protection: </a:t>
            </a:r>
            <a:r>
              <a:rPr b="0">
                <a:solidFill>
                  <a:srgbClr val="64748B"/>
                </a:solidFill>
              </a:rPr>
              <a:t>A single-use challenge token prevents attackers from replaying pre-recorded video files or 3D avatar animations.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Dynamic Guidance UI: </a:t>
            </a:r>
            <a:r>
              <a:rPr b="0">
                <a:solidFill>
                  <a:srgbClr val="64748B"/>
                </a:solidFill>
              </a:rPr>
              <a:t>Interactive student interface dynamically displays instructions corresponding to the server's randomized challenge.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Multi-Modal Validation: </a:t>
            </a:r>
            <a:r>
              <a:rPr b="0">
                <a:solidFill>
                  <a:srgbClr val="64748B"/>
                </a:solidFill>
              </a:rPr>
              <a:t>Combines facial landmark geometric motion analysis with ambient luminance consistency.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82880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2590" y="201168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4F46E5"/>
                </a:solidFill>
              </a:defRPr>
            </a:pPr>
            <a:r>
              <a:t>MATHEMATICAL LANDMARK VALIDATION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Eye Aspect Ratio (EAR) Formulation: </a:t>
            </a:r>
            <a:r>
              <a:rPr b="0">
                <a:solidFill>
                  <a:srgbClr val="64748B"/>
                </a:solidFill>
              </a:rPr>
              <a:t>EAR = (||p2 - p6|| + ||p3 - p5||) / (2 * ||p1 - p4||). Server verifies rapid drop below threshold 0.20 followed by recovery.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Head Yaw Euler Dynamics: </a:t>
            </a:r>
            <a:r>
              <a:rPr b="0">
                <a:solidFill>
                  <a:srgbClr val="64748B"/>
                </a:solidFill>
              </a:rPr>
              <a:t>Ratio between nose tip (p31) and outer jaw contour boundaries (p1, p17). Server verifies monotonic angle displacement &gt;= 25 degrees.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Temporal Window Verification: </a:t>
            </a:r>
            <a:r>
              <a:rPr b="0">
                <a:solidFill>
                  <a:srgbClr val="64748B"/>
                </a:solidFill>
              </a:rPr>
              <a:t>Transition intervals checked on backend (1.5s &lt;= delta_t &lt;= 4.0s). Rejects instant artificial injection attacks.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Elimination of Client Trust: </a:t>
            </a:r>
            <a:r>
              <a:rPr b="0">
                <a:solidFill>
                  <a:srgbClr val="64748B"/>
                </a:solidFill>
              </a:rPr>
              <a:t>Backend no longer accepts naive livenessPassed: true. Mathematical proof vectors must be verified on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VII SEM PROPOSED UPGRADE (4 OF 5)</a:t>
            </a:r>
          </a:p>
          <a:p>
            <a:pPr>
              <a:spcAft>
                <a:spcPts val="3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Predictive Debarment Analytics &amp; Early-Warning Engine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Transforming reactive attendance percentage logs into actionable machine intelligence and cutoff forecasting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</a:defRPr>
            </a:pPr>
            <a:r>
              <a:t>DEBARMENT RISK INDEX (DRI) FORMULATION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Remaining Sessions (N_rem): </a:t>
            </a:r>
            <a:r>
              <a:rPr b="0">
                <a:solidFill>
                  <a:srgbClr val="64748B"/>
                </a:solidFill>
              </a:rPr>
              <a:t>N_rem = Total_Planned_Lectures - Conducted_Lectures.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Max Achievable Percentage: </a:t>
            </a:r>
            <a:r>
              <a:rPr b="0">
                <a:solidFill>
                  <a:srgbClr val="64748B"/>
                </a:solidFill>
              </a:rPr>
              <a:t>Max% = ((Attended_Lectures + N_rem) / Total_Planned_Lectures) * 100.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Required Attendance for 75%: </a:t>
            </a:r>
            <a:r>
              <a:rPr b="0">
                <a:solidFill>
                  <a:srgbClr val="64748B"/>
                </a:solidFill>
              </a:rPr>
              <a:t>N_req = max(0, ceil(0.75 * Total_Planned) - Attended_Lectures).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Debarment Risk Index (DRI): </a:t>
            </a:r>
            <a:r>
              <a:rPr b="0">
                <a:solidFill>
                  <a:srgbClr val="64748B"/>
                </a:solidFill>
              </a:rPr>
              <a:t>If Max% &lt; 75%: DRI = 100% (Mathematically Debarred). Otherwise: DRI = (N_req / N_rem) * 100.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82880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2590" y="201168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PROACTIVE INSTITUTIONAL INTERVENTIONS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Student Risk Radar Dashboard: </a:t>
            </a:r>
            <a:r>
              <a:rPr b="0">
                <a:solidFill>
                  <a:srgbClr val="64748B"/>
                </a:solidFill>
              </a:rPr>
              <a:t>Real-time badge: Safe (&lt;25% DRI), Moderate Risk (25-50% DRI), High Risk (&gt;50% DRI), Debarred.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'What-If' Attendance Simulator: </a:t>
            </a:r>
            <a:r>
              <a:rPr b="0">
                <a:solidFill>
                  <a:srgbClr val="64748B"/>
                </a:solidFill>
              </a:rPr>
              <a:t>Student utility showing exactly how many consecutive lectures they must attend to restore compliance.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Automated Proactive Alerts: </a:t>
            </a:r>
            <a:r>
              <a:rPr b="0">
                <a:solidFill>
                  <a:srgbClr val="64748B"/>
                </a:solidFill>
              </a:rPr>
              <a:t>Automated email/push warnings dispatched when student attendance drops below 80% (prior to 75% cutoff).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✔ Faculty Class Watchlist: </a:t>
            </a:r>
            <a:r>
              <a:rPr b="0">
                <a:solidFill>
                  <a:srgbClr val="64748B"/>
                </a:solidFill>
              </a:rPr>
              <a:t>Instructors identify at-risk cohorts weeks before final exams, enabling timely academic counseling.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VII SEM PROPOSED UPGRADE (5 OF 5)</a:t>
            </a:r>
          </a:p>
          <a:p>
            <a:pPr>
              <a:spcAft>
                <a:spcPts val="3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Automated Timetable Engine &amp; Academic Scheduling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Automating lecture lifecycle to eliminate manual session starts, human forgetfulness, and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207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01168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PRE-LECTURE (T-5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96631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Auto-Session Genesis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node-cron background scheduler matches active lecture time table slots.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Initializes AttendanceSession record in 'ready' state with cryptographic secret.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Zero faculty intervention required to create room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353" y="1828800"/>
            <a:ext cx="333207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2233" y="2011680"/>
            <a:ext cx="20116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DURING LECTURE (T+0 TO T+60)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2233" y="2468880"/>
            <a:ext cx="296631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Instant Screen Activation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Faculty unlocks app: session is already active with dynamic rotating QR.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Handles collision detection (prevents overlapping sessions in same room).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Substitute faculty delegation supported if regular instructor is on leave.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186" y="1828800"/>
            <a:ext cx="3332073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10066" y="2011680"/>
            <a:ext cx="20116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POST-LECTURE (T+60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066" y="2468880"/>
            <a:ext cx="296631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Auto-Termination &amp; Tally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Session auto-closed at lecture conclusion + grace period.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Calculates unrecorded students as Absent atomically.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Exports synced attendance records to college LMS (Moodle / Google Classroom).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ACADEMIC EVALUATION SYNTHESIS</a:t>
            </a:r>
          </a:p>
          <a:p>
            <a:pPr>
              <a:spcAft>
                <a:spcPts val="3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Comprehensive Upgrade Matrix: VI Sem vs. VII Sem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Direct comparative benchmarking illustrating architectural, security, and operational advancements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3641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1F5F9"/>
                          </a:solidFill>
                        </a:defRPr>
                      </a:pPr>
                      <a:r>
                        <a:t>System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1F5F9"/>
                          </a:solidFill>
                        </a:defRPr>
                      </a:pPr>
                      <a:r>
                        <a:t>VI Sem Baseline Prototype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1F5F9"/>
                          </a:solidFill>
                        </a:defRPr>
                      </a:pPr>
                      <a:r>
                        <a:t>VII Sem Proposed Major Project Upgrade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Deployment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Standard Mobile Web Browser</a:t>
                      </a:r>
                      <a:br/>
                      <a:r>
                        <a:t>(URL bar clipping, slow network fetch)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Installable Progressive Web App (PWA)</a:t>
                      </a:r>
                      <a:br/>
                      <a:r>
                        <a:t>(Standalone UI, Workbox offline model caching)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Physical Security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Virtual Only (HMAC-SHA256 QR)</a:t>
                      </a:r>
                      <a:br/>
                      <a:r>
                        <a:t>(Vulnerable to remote screen-share proxies)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Dual Physical + Biometric Security</a:t>
                      </a:r>
                      <a:br/>
                      <a:r>
                        <a:t>(Hardware BLE RSSI beacon proximity enforcement)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Anti-Spoofing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Client-Side Boolean (livenessPassed)</a:t>
                      </a:r>
                      <a:br/>
                      <a:r>
                        <a:t>(Vulnerable to API intercept &amp; replay)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Server-Verified Dynamic Challenge Pipeline</a:t>
                      </a:r>
                      <a:br/>
                      <a:r>
                        <a:t>(Randomized sequence, 68-pt EAR &amp; Euler math)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Attendance Intelligence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Static Historical Percentage Tally</a:t>
                      </a:r>
                      <a:br/>
                      <a:r>
                        <a:t>(Post-hoc, purely retrospective logs)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Predictive Debarment Risk Index (DRI)</a:t>
                      </a:r>
                      <a:br/>
                      <a:r>
                        <a:t>(Proactive trajectory modeling &amp; early cutoff warnings)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Operational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100% Manual Session Management</a:t>
                      </a:r>
                      <a:br/>
                      <a:r>
                        <a:t>(Instructor must initiate each lecture)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Automated Background Timetable Engine</a:t>
                      </a:r>
                      <a:br/>
                      <a:r>
                        <a:t>(Auto-start/end based on scheduled curriculum)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PROJECT EXECUTION STRATEGY</a:t>
            </a:r>
          </a:p>
          <a:p>
            <a:pPr>
              <a:spcAft>
                <a:spcPts val="3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Implementation Phasing &amp; Semester Milestones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Systematic roadmap dividing capstone deliverables across VII Semester and VIII Semester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9905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21945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PHASE 1 (COMPLETED)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2247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PWA Engine &amp; Biometric Stability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Vite-plugin-pwa installed with auto-updating Service Worker.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Workbox CacheFirst policy for @vladmandic/face-api (~6MB).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Branded manifest and standalone mobile icons created.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Browser requestAnimationFrame loop leak eliminated.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3805" y="1828800"/>
            <a:ext cx="249905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0965" y="2011680"/>
            <a:ext cx="219456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PHASE 2 (CURRENT FOCUS)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0965" y="2468880"/>
            <a:ext cx="22247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Predictive Analytics &amp; DRI Engine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Implement Debarment Risk Index (DRI) calculation in backend.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Add 'What-If' Attendance Simulator to Student Dashboard.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Develop Faculty Debarment Watchlist cohort table.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Configure proactive email notification triggers (&lt;80%).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6090" y="1828800"/>
            <a:ext cx="249905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3250" y="2011680"/>
            <a:ext cx="21945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PHASE 3 (NEXT STAGE)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250" y="2468880"/>
            <a:ext cx="22247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Server-Verified Liveness Pipeline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Expand AttendanceChallenge model with dynamic action nonces.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Build client-side EAR curve &amp; yaw angle delta calculators.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Implement backend mathematical landmark validator.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Reject static photo presentation and 2D replay spoofs.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8375" y="1828800"/>
            <a:ext cx="249905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5535" y="2011680"/>
            <a:ext cx="21945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PHASE 4 (VIII SEMESTER)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5535" y="2468880"/>
            <a:ext cx="22247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Hardware BLE Proximity &amp; Pilot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Integrate Web Bluetooth API (navigator.bluetooth).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Deploy ESP32 classroom hardware BLE beacons.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Connect timetable engine with university LMS / ERP.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• Execute full-scale campus trial across CS department.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VII SEMESTER MID-TERM EVALUATION SUMMARY</a:t>
            </a:r>
          </a:p>
          <a:p>
            <a:pPr>
              <a:spcAft>
                <a:spcPts val="1600"/>
              </a:spcAft>
              <a:defRPr sz="3400" b="1">
                <a:solidFill>
                  <a:srgbClr val="F1F5F9"/>
                </a:solidFill>
              </a:defRPr>
            </a:pPr>
            <a:r>
              <a:t>Summary &amp; Conclusion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✔  Established Foundation: Robust VI Sem dual-factor baseline successfully hardened against race conditions, auth leakage, and model timeouts.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✔  Delivered VII Sem Milestone: Progressive Web App (PWA) with offline neural network caching fully built, validated, and installable on mobile/desktop.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✔  Clear Capstone Trajectory: Concrete mathematical and architectural blueprints defined for BLE Proximity, Server-Verified Liveness, and Predictive Debarment Analytics.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✔  High Practical &amp; Academic Merit: Evolves academic attendance from passive logging into an intelligent, fraud-proof, multi-factor institutional system.</a:t>
            </a:r>
          </a:p>
          <a:p>
            <a:br/>
            <a:pPr>
              <a:defRPr sz="1800" b="1">
                <a:solidFill>
                  <a:srgbClr val="C7D2FE"/>
                </a:solidFill>
              </a:defRPr>
            </a:pPr>
            <a:r>
              <a:t>Thank You!  —  Open for Questions &amp; Evaluation Committee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